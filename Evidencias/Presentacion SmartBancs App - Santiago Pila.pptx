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Ultra-Bold" charset="1" panose="00000900000000000000"/>
      <p:regular r:id="rId13"/>
    </p:embeddedFont>
    <p:embeddedFont>
      <p:font typeface="Poppins Semi-Bold" charset="1" panose="00000700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5952" y="0"/>
            <a:ext cx="6322048" cy="10287000"/>
          </a:xfrm>
          <a:custGeom>
            <a:avLst/>
            <a:gdLst/>
            <a:ahLst/>
            <a:cxnLst/>
            <a:rect r="r" b="b" t="t" l="l"/>
            <a:pathLst>
              <a:path h="10287000" w="6322048">
                <a:moveTo>
                  <a:pt x="0" y="0"/>
                </a:moveTo>
                <a:lnTo>
                  <a:pt x="6322048" y="0"/>
                </a:lnTo>
                <a:lnTo>
                  <a:pt x="63220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113" t="0" r="-7211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6384" y="7851686"/>
            <a:ext cx="4801553" cy="670403"/>
            <a:chOff x="0" y="0"/>
            <a:chExt cx="6402070" cy="8938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2070" cy="893871"/>
            </a:xfrm>
            <a:custGeom>
              <a:avLst/>
              <a:gdLst/>
              <a:ahLst/>
              <a:cxnLst/>
              <a:rect r="r" b="b" t="t" l="l"/>
              <a:pathLst>
                <a:path h="893871" w="6402070">
                  <a:moveTo>
                    <a:pt x="582930" y="0"/>
                  </a:moveTo>
                  <a:lnTo>
                    <a:pt x="5819140" y="0"/>
                  </a:lnTo>
                  <a:cubicBezTo>
                    <a:pt x="6141084" y="0"/>
                    <a:pt x="6402070" y="200100"/>
                    <a:pt x="6402070" y="446936"/>
                  </a:cubicBezTo>
                  <a:cubicBezTo>
                    <a:pt x="6402070" y="693771"/>
                    <a:pt x="6141084" y="893871"/>
                    <a:pt x="5819140" y="893871"/>
                  </a:cubicBezTo>
                  <a:lnTo>
                    <a:pt x="582930" y="893871"/>
                  </a:lnTo>
                  <a:cubicBezTo>
                    <a:pt x="260987" y="893871"/>
                    <a:pt x="0" y="693771"/>
                    <a:pt x="0" y="446936"/>
                  </a:cubicBezTo>
                  <a:cubicBezTo>
                    <a:pt x="0" y="200100"/>
                    <a:pt x="260987" y="0"/>
                    <a:pt x="582930" y="0"/>
                  </a:cubicBezTo>
                  <a:close/>
                </a:path>
              </a:pathLst>
            </a:custGeom>
            <a:solidFill>
              <a:srgbClr val="F4B3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402070" cy="9319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645795" y="9319736"/>
            <a:ext cx="10893742" cy="0"/>
          </a:xfrm>
          <a:prstGeom prst="line">
            <a:avLst/>
          </a:prstGeom>
          <a:ln cap="flat" w="85725">
            <a:solidFill>
              <a:srgbClr val="3A3A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86384" y="874347"/>
            <a:ext cx="229553" cy="842058"/>
            <a:chOff x="0" y="0"/>
            <a:chExt cx="306070" cy="11227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6070" cy="1122745"/>
            </a:xfrm>
            <a:custGeom>
              <a:avLst/>
              <a:gdLst/>
              <a:ahLst/>
              <a:cxnLst/>
              <a:rect r="r" b="b" t="t" l="l"/>
              <a:pathLst>
                <a:path h="1122745" w="306070">
                  <a:moveTo>
                    <a:pt x="0" y="0"/>
                  </a:moveTo>
                  <a:lnTo>
                    <a:pt x="306070" y="0"/>
                  </a:lnTo>
                  <a:lnTo>
                    <a:pt x="306070" y="1122745"/>
                  </a:lnTo>
                  <a:lnTo>
                    <a:pt x="0" y="1122745"/>
                  </a:lnTo>
                  <a:close/>
                </a:path>
              </a:pathLst>
            </a:custGeom>
            <a:solidFill>
              <a:srgbClr val="F4B3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6070" cy="1160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57531" y="0"/>
            <a:ext cx="9910663" cy="10287000"/>
          </a:xfrm>
          <a:custGeom>
            <a:avLst/>
            <a:gdLst/>
            <a:ahLst/>
            <a:cxnLst/>
            <a:rect r="r" b="b" t="t" l="l"/>
            <a:pathLst>
              <a:path h="10287000" w="9910663">
                <a:moveTo>
                  <a:pt x="0" y="0"/>
                </a:moveTo>
                <a:lnTo>
                  <a:pt x="9910663" y="0"/>
                </a:lnTo>
                <a:lnTo>
                  <a:pt x="991066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401" t="0" r="-3040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19581" y="760862"/>
            <a:ext cx="3291840" cy="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3191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EVALUACIÓN TÉCNICA TCS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6384" y="3179842"/>
            <a:ext cx="9473184" cy="2702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45"/>
              </a:lnSpc>
            </a:pPr>
            <a:r>
              <a:rPr lang="en-US" b="true" sz="10939" spc="-437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SMARTBANCS APP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384" y="6177901"/>
            <a:ext cx="7827264" cy="47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723" b="true">
                <a:solidFill>
                  <a:srgbClr val="A6A6A6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Arquitectura, MVP, Concurrencia y MLOps.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8170" y="8013258"/>
            <a:ext cx="4677981" cy="31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8"/>
              </a:lnSpc>
            </a:pPr>
            <a:r>
              <a:rPr lang="en-US" b="true" sz="1906" spc="190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SANTIAGO PILA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5795" y="9663414"/>
            <a:ext cx="5303520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01</a:t>
            </a:r>
            <a:r>
              <a:rPr lang="en-US" sz="1744" spc="3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0622" y="0"/>
            <a:ext cx="6967378" cy="10287000"/>
          </a:xfrm>
          <a:custGeom>
            <a:avLst/>
            <a:gdLst/>
            <a:ahLst/>
            <a:cxnLst/>
            <a:rect r="r" b="b" t="t" l="l"/>
            <a:pathLst>
              <a:path h="10287000" w="6967378">
                <a:moveTo>
                  <a:pt x="0" y="0"/>
                </a:moveTo>
                <a:lnTo>
                  <a:pt x="6967378" y="0"/>
                </a:lnTo>
                <a:lnTo>
                  <a:pt x="6967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534" t="0" r="-174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20966" y="3887268"/>
            <a:ext cx="3946161" cy="2580322"/>
            <a:chOff x="0" y="0"/>
            <a:chExt cx="5261548" cy="34404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261549" cy="3440430"/>
            </a:xfrm>
            <a:custGeom>
              <a:avLst/>
              <a:gdLst/>
              <a:ahLst/>
              <a:cxnLst/>
              <a:rect r="r" b="b" t="t" l="l"/>
              <a:pathLst>
                <a:path h="3440430" w="5261549">
                  <a:moveTo>
                    <a:pt x="0" y="0"/>
                  </a:moveTo>
                  <a:lnTo>
                    <a:pt x="5261549" y="0"/>
                  </a:lnTo>
                  <a:lnTo>
                    <a:pt x="5261549" y="3440430"/>
                  </a:lnTo>
                  <a:lnTo>
                    <a:pt x="0" y="3440430"/>
                  </a:lnTo>
                  <a:close/>
                </a:path>
              </a:pathLst>
            </a:custGeom>
            <a:solidFill>
              <a:srgbClr val="101010"/>
            </a:solidFill>
            <a:ln w="9525" cap="sq">
              <a:solidFill>
                <a:srgbClr val="F4B3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261548" cy="347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46421" y="3887268"/>
            <a:ext cx="3946161" cy="2580322"/>
            <a:chOff x="0" y="0"/>
            <a:chExt cx="5261548" cy="3440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61549" cy="3440430"/>
            </a:xfrm>
            <a:custGeom>
              <a:avLst/>
              <a:gdLst/>
              <a:ahLst/>
              <a:cxnLst/>
              <a:rect r="r" b="b" t="t" l="l"/>
              <a:pathLst>
                <a:path h="3440430" w="5261549">
                  <a:moveTo>
                    <a:pt x="0" y="0"/>
                  </a:moveTo>
                  <a:lnTo>
                    <a:pt x="5261549" y="0"/>
                  </a:lnTo>
                  <a:lnTo>
                    <a:pt x="5261549" y="3440430"/>
                  </a:lnTo>
                  <a:lnTo>
                    <a:pt x="0" y="3440430"/>
                  </a:lnTo>
                  <a:close/>
                </a:path>
              </a:pathLst>
            </a:custGeom>
            <a:solidFill>
              <a:srgbClr val="101010"/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261548" cy="347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920966" y="6512242"/>
            <a:ext cx="3946161" cy="2580322"/>
            <a:chOff x="0" y="0"/>
            <a:chExt cx="5261548" cy="34404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261549" cy="3440430"/>
            </a:xfrm>
            <a:custGeom>
              <a:avLst/>
              <a:gdLst/>
              <a:ahLst/>
              <a:cxnLst/>
              <a:rect r="r" b="b" t="t" l="l"/>
              <a:pathLst>
                <a:path h="3440430" w="5261549">
                  <a:moveTo>
                    <a:pt x="0" y="0"/>
                  </a:moveTo>
                  <a:lnTo>
                    <a:pt x="5261549" y="0"/>
                  </a:lnTo>
                  <a:lnTo>
                    <a:pt x="5261549" y="3440430"/>
                  </a:lnTo>
                  <a:lnTo>
                    <a:pt x="0" y="3440430"/>
                  </a:lnTo>
                  <a:close/>
                </a:path>
              </a:pathLst>
            </a:custGeom>
            <a:solidFill>
              <a:srgbClr val="101010"/>
            </a:solidFill>
            <a:ln w="9525" cap="sq">
              <a:solidFill>
                <a:srgbClr val="3A3A3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261548" cy="347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46421" y="6512242"/>
            <a:ext cx="3946161" cy="2580322"/>
            <a:chOff x="0" y="0"/>
            <a:chExt cx="5261548" cy="3440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61549" cy="3440430"/>
            </a:xfrm>
            <a:custGeom>
              <a:avLst/>
              <a:gdLst/>
              <a:ahLst/>
              <a:cxnLst/>
              <a:rect r="r" b="b" t="t" l="l"/>
              <a:pathLst>
                <a:path h="3440430" w="5261549">
                  <a:moveTo>
                    <a:pt x="0" y="0"/>
                  </a:moveTo>
                  <a:lnTo>
                    <a:pt x="5261549" y="0"/>
                  </a:lnTo>
                  <a:lnTo>
                    <a:pt x="5261549" y="3440430"/>
                  </a:lnTo>
                  <a:lnTo>
                    <a:pt x="0" y="3440430"/>
                  </a:lnTo>
                  <a:close/>
                </a:path>
              </a:pathLst>
            </a:custGeom>
            <a:solidFill>
              <a:srgbClr val="101010"/>
            </a:solidFill>
            <a:ln w="9525" cap="sq">
              <a:solidFill>
                <a:srgbClr val="F4B3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61548" cy="347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76656" y="9402127"/>
            <a:ext cx="10504742" cy="0"/>
          </a:xfrm>
          <a:prstGeom prst="line">
            <a:avLst/>
          </a:prstGeom>
          <a:ln cap="flat" w="85725">
            <a:solidFill>
              <a:srgbClr val="3A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485324" y="883004"/>
            <a:ext cx="11877200" cy="278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767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ORIENTADA A </a:t>
            </a:r>
          </a:p>
          <a:p>
            <a:pPr algn="l">
              <a:lnSpc>
                <a:spcPts val="6905"/>
              </a:lnSpc>
            </a:pPr>
            <a:r>
              <a:rPr lang="en-US" sz="767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EVENTOS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447818" y="4392863"/>
            <a:ext cx="2943366" cy="41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9"/>
              </a:lnSpc>
            </a:pPr>
            <a:r>
              <a:rPr lang="en-US" b="true" sz="33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PERSISTENCIA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47818" y="5384199"/>
            <a:ext cx="215551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PostgreSQL ACID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62904" y="4206401"/>
            <a:ext cx="3662286" cy="93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0"/>
              </a:lnSpc>
            </a:pPr>
            <a:r>
              <a:rPr lang="en-US" b="true" sz="4000">
                <a:solidFill>
                  <a:srgbClr val="F4B300"/>
                </a:solidFill>
                <a:latin typeface="Poppins Bold"/>
                <a:ea typeface="Poppins Bold"/>
                <a:cs typeface="Poppins Bold"/>
                <a:sym typeface="Poppins Bold"/>
              </a:rPr>
              <a:t>CAPA SINCRONA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27132" y="5384199"/>
            <a:ext cx="273383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FastApi para velocidad crítica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04324" y="7091362"/>
            <a:ext cx="2979445" cy="36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7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ORQUESTACIÓN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92420" y="7899146"/>
            <a:ext cx="2868541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RabbitMQ para mensajería asíncrona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47818" y="7100887"/>
            <a:ext cx="2757757" cy="802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5"/>
              </a:lnSpc>
            </a:pPr>
            <a:r>
              <a:rPr lang="en-US" b="true" sz="3500">
                <a:solidFill>
                  <a:srgbClr val="F4B300"/>
                </a:solidFill>
                <a:latin typeface="Poppins Bold"/>
                <a:ea typeface="Poppins Bold"/>
                <a:cs typeface="Poppins Bold"/>
                <a:sym typeface="Poppins Bold"/>
              </a:rPr>
              <a:t>CAPA ASÍNCRONA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47818" y="7899146"/>
            <a:ext cx="2365814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Microservicio IA y Proceso ETL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5795" y="9663414"/>
            <a:ext cx="5543623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02</a:t>
            </a:r>
            <a:r>
              <a:rPr lang="en-US" sz="1744" spc="3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795" y="2568893"/>
            <a:ext cx="4145280" cy="4123515"/>
            <a:chOff x="0" y="0"/>
            <a:chExt cx="5527040" cy="5498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7040" cy="5498020"/>
            </a:xfrm>
            <a:custGeom>
              <a:avLst/>
              <a:gdLst/>
              <a:ahLst/>
              <a:cxnLst/>
              <a:rect r="r" b="b" t="t" l="l"/>
              <a:pathLst>
                <a:path h="5498020" w="5527040">
                  <a:moveTo>
                    <a:pt x="0" y="0"/>
                  </a:moveTo>
                  <a:lnTo>
                    <a:pt x="5527040" y="0"/>
                  </a:lnTo>
                  <a:lnTo>
                    <a:pt x="5527040" y="5498020"/>
                  </a:lnTo>
                  <a:lnTo>
                    <a:pt x="0" y="549802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527040" cy="5536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98720" y="2568893"/>
            <a:ext cx="4145280" cy="4123515"/>
            <a:chOff x="0" y="0"/>
            <a:chExt cx="5527040" cy="54980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7040" cy="5498020"/>
            </a:xfrm>
            <a:custGeom>
              <a:avLst/>
              <a:gdLst/>
              <a:ahLst/>
              <a:cxnLst/>
              <a:rect r="r" b="b" t="t" l="l"/>
              <a:pathLst>
                <a:path h="5498020" w="5527040">
                  <a:moveTo>
                    <a:pt x="0" y="0"/>
                  </a:moveTo>
                  <a:lnTo>
                    <a:pt x="5527040" y="0"/>
                  </a:lnTo>
                  <a:lnTo>
                    <a:pt x="5527040" y="5498020"/>
                  </a:lnTo>
                  <a:lnTo>
                    <a:pt x="0" y="549802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527040" cy="5536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2568893"/>
            <a:ext cx="4145280" cy="4123515"/>
            <a:chOff x="0" y="0"/>
            <a:chExt cx="5527040" cy="54980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7040" cy="5498020"/>
            </a:xfrm>
            <a:custGeom>
              <a:avLst/>
              <a:gdLst/>
              <a:ahLst/>
              <a:cxnLst/>
              <a:rect r="r" b="b" t="t" l="l"/>
              <a:pathLst>
                <a:path h="5498020" w="5527040">
                  <a:moveTo>
                    <a:pt x="0" y="0"/>
                  </a:moveTo>
                  <a:lnTo>
                    <a:pt x="5527040" y="0"/>
                  </a:lnTo>
                  <a:lnTo>
                    <a:pt x="5527040" y="5498020"/>
                  </a:lnTo>
                  <a:lnTo>
                    <a:pt x="0" y="549802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527040" cy="5536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496925" y="2568893"/>
            <a:ext cx="4145280" cy="4123515"/>
            <a:chOff x="0" y="0"/>
            <a:chExt cx="5527040" cy="54980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27040" cy="5498020"/>
            </a:xfrm>
            <a:custGeom>
              <a:avLst/>
              <a:gdLst/>
              <a:ahLst/>
              <a:cxnLst/>
              <a:rect r="r" b="b" t="t" l="l"/>
              <a:pathLst>
                <a:path h="5498020" w="5527040">
                  <a:moveTo>
                    <a:pt x="0" y="0"/>
                  </a:moveTo>
                  <a:lnTo>
                    <a:pt x="5527040" y="0"/>
                  </a:lnTo>
                  <a:lnTo>
                    <a:pt x="5527040" y="5498020"/>
                  </a:lnTo>
                  <a:lnTo>
                    <a:pt x="0" y="549802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527040" cy="5536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45795" y="2465546"/>
            <a:ext cx="16997362" cy="0"/>
          </a:xfrm>
          <a:prstGeom prst="line">
            <a:avLst/>
          </a:prstGeom>
          <a:ln cap="flat" w="228600">
            <a:solidFill>
              <a:srgbClr val="F9B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0" y="6428009"/>
            <a:ext cx="18288000" cy="3006296"/>
          </a:xfrm>
          <a:custGeom>
            <a:avLst/>
            <a:gdLst/>
            <a:ahLst/>
            <a:cxnLst/>
            <a:rect r="r" b="b" t="t" l="l"/>
            <a:pathLst>
              <a:path h="3006296" w="18288000">
                <a:moveTo>
                  <a:pt x="0" y="0"/>
                </a:moveTo>
                <a:lnTo>
                  <a:pt x="18288000" y="0"/>
                </a:lnTo>
                <a:lnTo>
                  <a:pt x="1828800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0857" r="0" b="-83677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9510505"/>
            <a:ext cx="18288000" cy="776495"/>
            <a:chOff x="0" y="0"/>
            <a:chExt cx="24384000" cy="10353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0" cy="1035327"/>
            </a:xfrm>
            <a:custGeom>
              <a:avLst/>
              <a:gdLst/>
              <a:ahLst/>
              <a:cxnLst/>
              <a:rect r="r" b="b" t="t" l="l"/>
              <a:pathLst>
                <a:path h="103532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35327"/>
                  </a:lnTo>
                  <a:lnTo>
                    <a:pt x="0" y="1035327"/>
                  </a:ln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384000" cy="10734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-232076" y="9434305"/>
            <a:ext cx="18752153" cy="0"/>
          </a:xfrm>
          <a:prstGeom prst="line">
            <a:avLst/>
          </a:prstGeom>
          <a:ln cap="flat" w="85725">
            <a:solidFill>
              <a:srgbClr val="F9B1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-47625" y="6368821"/>
            <a:ext cx="18604198" cy="3022858"/>
          </a:xfrm>
          <a:custGeom>
            <a:avLst/>
            <a:gdLst/>
            <a:ahLst/>
            <a:cxnLst/>
            <a:rect r="r" b="b" t="t" l="l"/>
            <a:pathLst>
              <a:path h="3022858" w="18604198">
                <a:moveTo>
                  <a:pt x="0" y="0"/>
                </a:moveTo>
                <a:lnTo>
                  <a:pt x="18604198" y="0"/>
                </a:lnTo>
                <a:lnTo>
                  <a:pt x="18604198" y="3022859"/>
                </a:lnTo>
                <a:lnTo>
                  <a:pt x="0" y="3022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" t="-125661" r="0" b="-12565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76275" y="1270003"/>
            <a:ext cx="14345471" cy="115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8107" b="true">
                <a:solidFill>
                  <a:srgbClr val="0D0D15"/>
                </a:solidFill>
                <a:latin typeface="Poppins Bold"/>
                <a:ea typeface="Poppins Bold"/>
                <a:cs typeface="Poppins Bold"/>
                <a:sym typeface="Poppins Bold"/>
              </a:rPr>
              <a:t>STACK TECNOLÓGICO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5568" y="3048303"/>
            <a:ext cx="768096" cy="77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5474" b="true">
                <a:solidFill>
                  <a:srgbClr val="F9B1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5568" y="3891785"/>
            <a:ext cx="2670048" cy="68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300" b="true">
                <a:solidFill>
                  <a:srgbClr val="0D0D15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&amp; FASTAPI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5568" y="4735419"/>
            <a:ext cx="1993392" cy="64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D0D15"/>
                </a:solidFill>
                <a:latin typeface="Poppins"/>
                <a:ea typeface="Poppins"/>
                <a:cs typeface="Poppins"/>
                <a:sym typeface="Poppins"/>
              </a:rPr>
              <a:t>Manejo asíncrono nativo.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13248" y="3048303"/>
            <a:ext cx="877824" cy="77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5474" b="true">
                <a:solidFill>
                  <a:srgbClr val="F9B100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13248" y="3891785"/>
            <a:ext cx="259689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300" b="true">
                <a:solidFill>
                  <a:srgbClr val="0D0D15"/>
                </a:solidFill>
                <a:latin typeface="Poppins Bold"/>
                <a:ea typeface="Poppins Bold"/>
                <a:cs typeface="Poppins Bold"/>
                <a:sym typeface="Poppins Bold"/>
              </a:rPr>
              <a:t>POSTGRESQL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13248" y="4735602"/>
            <a:ext cx="2866555" cy="64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D0D15"/>
                </a:solidFill>
                <a:latin typeface="Poppins"/>
                <a:ea typeface="Poppins"/>
                <a:cs typeface="Poppins"/>
                <a:sym typeface="Poppins"/>
              </a:rPr>
              <a:t>Consistencia transaccional ACID.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7776" y="3048303"/>
            <a:ext cx="877824" cy="77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5474" b="true">
                <a:solidFill>
                  <a:srgbClr val="F9B100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37776" y="3891785"/>
            <a:ext cx="241401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300" b="true">
                <a:solidFill>
                  <a:srgbClr val="0D0D15"/>
                </a:solidFill>
                <a:latin typeface="Poppins Bold"/>
                <a:ea typeface="Poppins Bold"/>
                <a:cs typeface="Poppins Bold"/>
                <a:sym typeface="Poppins Bold"/>
              </a:rPr>
              <a:t>RABBITMQ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37776" y="4735419"/>
            <a:ext cx="2048256" cy="64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D0D15"/>
                </a:solidFill>
                <a:latin typeface="Poppins"/>
                <a:ea typeface="Poppins"/>
                <a:cs typeface="Poppins"/>
                <a:sym typeface="Poppins"/>
              </a:rPr>
              <a:t>Desacoplamiento y control de flujo.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4016" y="3048303"/>
            <a:ext cx="932688" cy="77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5474" b="true">
                <a:solidFill>
                  <a:srgbClr val="F9B100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4016" y="3891785"/>
            <a:ext cx="2670048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5"/>
              </a:lnSpc>
            </a:pPr>
            <a:r>
              <a:rPr lang="en-US" sz="2300" b="true">
                <a:solidFill>
                  <a:srgbClr val="0D0D15"/>
                </a:solidFill>
                <a:latin typeface="Poppins Bold"/>
                <a:ea typeface="Poppins Bold"/>
                <a:cs typeface="Poppins Bold"/>
                <a:sym typeface="Poppins Bold"/>
              </a:rPr>
              <a:t>DOCKER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44016" y="4735419"/>
            <a:ext cx="2121408" cy="64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1600">
                <a:solidFill>
                  <a:srgbClr val="0D0D15"/>
                </a:solidFill>
                <a:latin typeface="Poppins"/>
                <a:ea typeface="Poppins"/>
                <a:cs typeface="Poppins"/>
                <a:sym typeface="Poppins"/>
              </a:rPr>
              <a:t>Ecosistema aislado desplegable.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5795" y="9663414"/>
            <a:ext cx="5543623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03</a:t>
            </a:r>
            <a:r>
              <a:rPr lang="en-US" sz="1744" spc="3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103292" cy="10287000"/>
          </a:xfrm>
          <a:custGeom>
            <a:avLst/>
            <a:gdLst/>
            <a:ahLst/>
            <a:cxnLst/>
            <a:rect r="r" b="b" t="t" l="l"/>
            <a:pathLst>
              <a:path h="10287000" w="6103292">
                <a:moveTo>
                  <a:pt x="0" y="0"/>
                </a:moveTo>
                <a:lnTo>
                  <a:pt x="6103292" y="0"/>
                </a:lnTo>
                <a:lnTo>
                  <a:pt x="6103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837" t="0" r="-9947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48462" y="3640455"/>
            <a:ext cx="10456545" cy="1726883"/>
            <a:chOff x="0" y="0"/>
            <a:chExt cx="13942060" cy="23025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42061" cy="2302510"/>
            </a:xfrm>
            <a:custGeom>
              <a:avLst/>
              <a:gdLst/>
              <a:ahLst/>
              <a:cxnLst/>
              <a:rect r="r" b="b" t="t" l="l"/>
              <a:pathLst>
                <a:path h="2302510" w="13942061">
                  <a:moveTo>
                    <a:pt x="0" y="0"/>
                  </a:moveTo>
                  <a:lnTo>
                    <a:pt x="13942061" y="0"/>
                  </a:lnTo>
                  <a:lnTo>
                    <a:pt x="13942061" y="2302510"/>
                  </a:lnTo>
                  <a:lnTo>
                    <a:pt x="0" y="230251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42060" cy="2340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48462" y="5356860"/>
            <a:ext cx="10456545" cy="1934527"/>
            <a:chOff x="0" y="0"/>
            <a:chExt cx="13942060" cy="2579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42061" cy="2579370"/>
            </a:xfrm>
            <a:custGeom>
              <a:avLst/>
              <a:gdLst/>
              <a:ahLst/>
              <a:cxnLst/>
              <a:rect r="r" b="b" t="t" l="l"/>
              <a:pathLst>
                <a:path h="2579370" w="13942061">
                  <a:moveTo>
                    <a:pt x="0" y="0"/>
                  </a:moveTo>
                  <a:lnTo>
                    <a:pt x="13942061" y="0"/>
                  </a:lnTo>
                  <a:lnTo>
                    <a:pt x="13942061" y="2579370"/>
                  </a:lnTo>
                  <a:lnTo>
                    <a:pt x="0" y="257937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42060" cy="2617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748462" y="7280910"/>
            <a:ext cx="10456545" cy="1726883"/>
            <a:chOff x="0" y="0"/>
            <a:chExt cx="13942060" cy="2302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42061" cy="2302510"/>
            </a:xfrm>
            <a:custGeom>
              <a:avLst/>
              <a:gdLst/>
              <a:ahLst/>
              <a:cxnLst/>
              <a:rect r="r" b="b" t="t" l="l"/>
              <a:pathLst>
                <a:path h="2302510" w="13942061">
                  <a:moveTo>
                    <a:pt x="0" y="0"/>
                  </a:moveTo>
                  <a:lnTo>
                    <a:pt x="13942061" y="0"/>
                  </a:lnTo>
                  <a:lnTo>
                    <a:pt x="13942061" y="2302510"/>
                  </a:lnTo>
                  <a:lnTo>
                    <a:pt x="0" y="230251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0E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42060" cy="2340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6748462" y="9320927"/>
            <a:ext cx="10456545" cy="0"/>
          </a:xfrm>
          <a:prstGeom prst="line">
            <a:avLst/>
          </a:prstGeom>
          <a:ln cap="flat" w="85725">
            <a:solidFill>
              <a:srgbClr val="3A3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784848" y="1680830"/>
            <a:ext cx="9966960" cy="178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4"/>
              </a:lnSpc>
            </a:pPr>
            <a:r>
              <a:rPr lang="en-US" sz="6694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PROTECCIÓN ANTI COLISIONES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0608" y="4211811"/>
            <a:ext cx="987552" cy="90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1"/>
              </a:lnSpc>
            </a:pPr>
            <a:r>
              <a:rPr lang="en-US" sz="6351">
                <a:solidFill>
                  <a:srgbClr val="F4B3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51392" y="4449325"/>
            <a:ext cx="7382230" cy="38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BLOQUEOS PREVENTIVOS A NIVEL DE FILA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50608" y="6032610"/>
            <a:ext cx="1078992" cy="90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1"/>
              </a:lnSpc>
            </a:pPr>
            <a:r>
              <a:rPr lang="en-US" sz="6351">
                <a:solidFill>
                  <a:srgbClr val="F4B3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51392" y="6270124"/>
            <a:ext cx="7768058" cy="38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ELIMINACIÓN TOTAL DE “RACE CONDITIONS”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50608" y="7853409"/>
            <a:ext cx="1078992" cy="90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1"/>
              </a:lnSpc>
            </a:pPr>
            <a:r>
              <a:rPr lang="en-US" sz="6351">
                <a:solidFill>
                  <a:srgbClr val="F4B3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51392" y="7823461"/>
            <a:ext cx="5193792" cy="72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723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MITIGACIÓN NATIVA DE ANOMALIAS Y COLISIONES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84848" y="764325"/>
            <a:ext cx="3936443" cy="42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F1A800"/>
                </a:solidFill>
                <a:latin typeface="Poppins Bold"/>
                <a:ea typeface="Poppins Bold"/>
                <a:cs typeface="Poppins Bold"/>
                <a:sym typeface="Poppins Bold"/>
              </a:rPr>
              <a:t>BASE DE 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5795" y="9663414"/>
            <a:ext cx="5543623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04</a:t>
            </a:r>
            <a:r>
              <a:rPr lang="en-US" sz="1744" spc="3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13232" y="9239964"/>
            <a:ext cx="16861536" cy="0"/>
          </a:xfrm>
          <a:prstGeom prst="line">
            <a:avLst/>
          </a:prstGeom>
          <a:ln cap="flat" w="85725">
            <a:solidFill>
              <a:srgbClr val="3A3A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144000" y="2568892"/>
            <a:ext cx="8430768" cy="6374184"/>
            <a:chOff x="0" y="0"/>
            <a:chExt cx="11241024" cy="84989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41024" cy="8498911"/>
            </a:xfrm>
            <a:custGeom>
              <a:avLst/>
              <a:gdLst/>
              <a:ahLst/>
              <a:cxnLst/>
              <a:rect r="r" b="b" t="t" l="l"/>
              <a:pathLst>
                <a:path h="8498911" w="11241024">
                  <a:moveTo>
                    <a:pt x="0" y="0"/>
                  </a:moveTo>
                  <a:lnTo>
                    <a:pt x="11241024" y="0"/>
                  </a:lnTo>
                  <a:lnTo>
                    <a:pt x="11241024" y="8498911"/>
                  </a:lnTo>
                  <a:lnTo>
                    <a:pt x="0" y="8498911"/>
                  </a:lnTo>
                  <a:close/>
                </a:path>
              </a:pathLst>
            </a:custGeom>
            <a:solidFill>
              <a:srgbClr val="3A3A3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241024" cy="8537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13232" y="2568892"/>
            <a:ext cx="8430768" cy="6374184"/>
            <a:chOff x="0" y="0"/>
            <a:chExt cx="11241024" cy="84989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41024" cy="8498911"/>
            </a:xfrm>
            <a:custGeom>
              <a:avLst/>
              <a:gdLst/>
              <a:ahLst/>
              <a:cxnLst/>
              <a:rect r="r" b="b" t="t" l="l"/>
              <a:pathLst>
                <a:path h="8498911" w="11241024">
                  <a:moveTo>
                    <a:pt x="0" y="0"/>
                  </a:moveTo>
                  <a:lnTo>
                    <a:pt x="11241024" y="0"/>
                  </a:lnTo>
                  <a:lnTo>
                    <a:pt x="11241024" y="8498911"/>
                  </a:lnTo>
                  <a:lnTo>
                    <a:pt x="0" y="8498911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41024" cy="8537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2568892"/>
            <a:ext cx="189846" cy="5356423"/>
            <a:chOff x="0" y="0"/>
            <a:chExt cx="314096" cy="8862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096" cy="8862060"/>
            </a:xfrm>
            <a:custGeom>
              <a:avLst/>
              <a:gdLst/>
              <a:ahLst/>
              <a:cxnLst/>
              <a:rect r="r" b="b" t="t" l="l"/>
              <a:pathLst>
                <a:path h="8862060" w="314096">
                  <a:moveTo>
                    <a:pt x="0" y="0"/>
                  </a:moveTo>
                  <a:lnTo>
                    <a:pt x="314096" y="0"/>
                  </a:lnTo>
                  <a:lnTo>
                    <a:pt x="314096" y="8862060"/>
                  </a:lnTo>
                  <a:lnTo>
                    <a:pt x="0" y="8862060"/>
                  </a:lnTo>
                  <a:close/>
                </a:path>
              </a:pathLst>
            </a:custGeom>
            <a:solidFill>
              <a:srgbClr val="F9B60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14096" cy="8900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20403" y="6795972"/>
            <a:ext cx="1616426" cy="1616426"/>
          </a:xfrm>
          <a:custGeom>
            <a:avLst/>
            <a:gdLst/>
            <a:ahLst/>
            <a:cxnLst/>
            <a:rect r="r" b="b" t="t" l="l"/>
            <a:pathLst>
              <a:path h="1616426" w="1616426">
                <a:moveTo>
                  <a:pt x="0" y="0"/>
                </a:moveTo>
                <a:lnTo>
                  <a:pt x="1616426" y="0"/>
                </a:lnTo>
                <a:lnTo>
                  <a:pt x="1616426" y="1616426"/>
                </a:lnTo>
                <a:lnTo>
                  <a:pt x="0" y="1616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80553" y="6525354"/>
            <a:ext cx="2157662" cy="2157662"/>
          </a:xfrm>
          <a:custGeom>
            <a:avLst/>
            <a:gdLst/>
            <a:ahLst/>
            <a:cxnLst/>
            <a:rect r="r" b="b" t="t" l="l"/>
            <a:pathLst>
              <a:path h="2157662" w="2157662">
                <a:moveTo>
                  <a:pt x="0" y="0"/>
                </a:moveTo>
                <a:lnTo>
                  <a:pt x="2157662" y="0"/>
                </a:lnTo>
                <a:lnTo>
                  <a:pt x="2157662" y="2157662"/>
                </a:lnTo>
                <a:lnTo>
                  <a:pt x="0" y="2157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3232" y="664884"/>
            <a:ext cx="4734733" cy="33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2379" b="true">
                <a:solidFill>
                  <a:srgbClr val="FFA100"/>
                </a:solidFill>
                <a:latin typeface="Poppins Bold"/>
                <a:ea typeface="Poppins Bold"/>
                <a:cs typeface="Poppins Bold"/>
                <a:sym typeface="Poppins Bold"/>
              </a:rPr>
              <a:t>PROCESAMIENTO SECUNDARIO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3232" y="1327753"/>
            <a:ext cx="20178095" cy="104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04"/>
              </a:lnSpc>
            </a:pPr>
            <a:r>
              <a:rPr lang="en-US" b="true" sz="7304" spc="-2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FLUJOS ASÍNCRONOS DESACOPLADOS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8944" y="3090431"/>
            <a:ext cx="6171151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9A600"/>
                </a:solidFill>
                <a:latin typeface="Poppins Bold"/>
                <a:ea typeface="Poppins Bold"/>
                <a:cs typeface="Poppins Bold"/>
                <a:sym typeface="Poppins Bold"/>
              </a:rPr>
              <a:t>MICROSERVICIO 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8944" y="3965263"/>
            <a:ext cx="590702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Inferencia en segundo plano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38944" y="4709506"/>
            <a:ext cx="574243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Monitoreo de Data Drift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8944" y="5457741"/>
            <a:ext cx="603504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Contenedores aislados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5795" y="9663414"/>
            <a:ext cx="5543623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05</a:t>
            </a:r>
            <a:r>
              <a:rPr lang="en-US" sz="1744" spc="3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5650" y="3103883"/>
            <a:ext cx="6147718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9A6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LEGADO BANCS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2226" y="3985446"/>
            <a:ext cx="667512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Rate Limiting estricto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2226" y="4767899"/>
            <a:ext cx="5907024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Amortiguador de carga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52226" y="5496127"/>
            <a:ext cx="574243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Procesamiento ETL diario.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795" y="4068339"/>
            <a:ext cx="5797868" cy="2372678"/>
            <a:chOff x="0" y="0"/>
            <a:chExt cx="7730490" cy="3163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30490" cy="3163570"/>
            </a:xfrm>
            <a:custGeom>
              <a:avLst/>
              <a:gdLst/>
              <a:ahLst/>
              <a:cxnLst/>
              <a:rect r="r" b="b" t="t" l="l"/>
              <a:pathLst>
                <a:path h="3163570" w="7730490">
                  <a:moveTo>
                    <a:pt x="0" y="0"/>
                  </a:moveTo>
                  <a:lnTo>
                    <a:pt x="7730490" y="0"/>
                  </a:lnTo>
                  <a:lnTo>
                    <a:pt x="7730490" y="3163570"/>
                  </a:lnTo>
                  <a:lnTo>
                    <a:pt x="0" y="316357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30490" cy="3201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72288" y="4068339"/>
            <a:ext cx="5797868" cy="2372678"/>
            <a:chOff x="0" y="0"/>
            <a:chExt cx="7730490" cy="31635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30490" cy="3163570"/>
            </a:xfrm>
            <a:custGeom>
              <a:avLst/>
              <a:gdLst/>
              <a:ahLst/>
              <a:cxnLst/>
              <a:rect r="r" b="b" t="t" l="l"/>
              <a:pathLst>
                <a:path h="3163570" w="7730490">
                  <a:moveTo>
                    <a:pt x="0" y="0"/>
                  </a:moveTo>
                  <a:lnTo>
                    <a:pt x="7730490" y="0"/>
                  </a:lnTo>
                  <a:lnTo>
                    <a:pt x="7730490" y="3163570"/>
                  </a:lnTo>
                  <a:lnTo>
                    <a:pt x="0" y="316357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730490" cy="3201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645795" y="9437370"/>
            <a:ext cx="12024360" cy="0"/>
          </a:xfrm>
          <a:prstGeom prst="line">
            <a:avLst/>
          </a:prstGeom>
          <a:ln cap="flat" w="85725">
            <a:solidFill>
              <a:srgbClr val="3A3A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45795" y="6818947"/>
            <a:ext cx="5797868" cy="2372678"/>
            <a:chOff x="0" y="0"/>
            <a:chExt cx="7730490" cy="31635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30490" cy="3163570"/>
            </a:xfrm>
            <a:custGeom>
              <a:avLst/>
              <a:gdLst/>
              <a:ahLst/>
              <a:cxnLst/>
              <a:rect r="r" b="b" t="t" l="l"/>
              <a:pathLst>
                <a:path h="3163570" w="7730490">
                  <a:moveTo>
                    <a:pt x="0" y="0"/>
                  </a:moveTo>
                  <a:lnTo>
                    <a:pt x="7730490" y="0"/>
                  </a:lnTo>
                  <a:lnTo>
                    <a:pt x="7730490" y="3163570"/>
                  </a:lnTo>
                  <a:lnTo>
                    <a:pt x="0" y="316357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730490" cy="3201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72288" y="6818947"/>
            <a:ext cx="5797868" cy="2372678"/>
            <a:chOff x="0" y="0"/>
            <a:chExt cx="7730490" cy="31635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30490" cy="3163570"/>
            </a:xfrm>
            <a:custGeom>
              <a:avLst/>
              <a:gdLst/>
              <a:ahLst/>
              <a:cxnLst/>
              <a:rect r="r" b="b" t="t" l="l"/>
              <a:pathLst>
                <a:path h="3163570" w="7730490">
                  <a:moveTo>
                    <a:pt x="0" y="0"/>
                  </a:moveTo>
                  <a:lnTo>
                    <a:pt x="7730490" y="0"/>
                  </a:lnTo>
                  <a:lnTo>
                    <a:pt x="7730490" y="3163570"/>
                  </a:lnTo>
                  <a:lnTo>
                    <a:pt x="0" y="3163570"/>
                  </a:lnTo>
                  <a:close/>
                </a:path>
              </a:pathLst>
            </a:custGeom>
            <a:solidFill>
              <a:srgbClr val="1A1A1A"/>
            </a:solidFill>
            <a:ln w="95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730490" cy="3201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70408" y="7225860"/>
            <a:ext cx="1104900" cy="863918"/>
            <a:chOff x="0" y="0"/>
            <a:chExt cx="1473200" cy="11518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73200" cy="1151890"/>
            </a:xfrm>
            <a:custGeom>
              <a:avLst/>
              <a:gdLst/>
              <a:ahLst/>
              <a:cxnLst/>
              <a:rect r="r" b="b" t="t" l="l"/>
              <a:pathLst>
                <a:path h="1151890" w="1473200">
                  <a:moveTo>
                    <a:pt x="76200" y="0"/>
                  </a:moveTo>
                  <a:lnTo>
                    <a:pt x="1397000" y="0"/>
                  </a:lnTo>
                  <a:cubicBezTo>
                    <a:pt x="1439084" y="0"/>
                    <a:pt x="1473200" y="34116"/>
                    <a:pt x="1473200" y="76200"/>
                  </a:cubicBezTo>
                  <a:lnTo>
                    <a:pt x="1473200" y="1075690"/>
                  </a:lnTo>
                  <a:cubicBezTo>
                    <a:pt x="1473200" y="1117774"/>
                    <a:pt x="1439084" y="1151890"/>
                    <a:pt x="1397000" y="1151890"/>
                  </a:cubicBezTo>
                  <a:lnTo>
                    <a:pt x="76200" y="1151890"/>
                  </a:lnTo>
                  <a:cubicBezTo>
                    <a:pt x="34116" y="1151890"/>
                    <a:pt x="0" y="1117774"/>
                    <a:pt x="0" y="107569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B60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73200" cy="118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4014" y="7225860"/>
            <a:ext cx="1104900" cy="863918"/>
            <a:chOff x="0" y="0"/>
            <a:chExt cx="1473200" cy="11518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3200" cy="1151890"/>
            </a:xfrm>
            <a:custGeom>
              <a:avLst/>
              <a:gdLst/>
              <a:ahLst/>
              <a:cxnLst/>
              <a:rect r="r" b="b" t="t" l="l"/>
              <a:pathLst>
                <a:path h="1151890" w="1473200">
                  <a:moveTo>
                    <a:pt x="76200" y="0"/>
                  </a:moveTo>
                  <a:lnTo>
                    <a:pt x="1397000" y="0"/>
                  </a:lnTo>
                  <a:cubicBezTo>
                    <a:pt x="1439084" y="0"/>
                    <a:pt x="1473200" y="34116"/>
                    <a:pt x="1473200" y="76200"/>
                  </a:cubicBezTo>
                  <a:lnTo>
                    <a:pt x="1473200" y="1075690"/>
                  </a:lnTo>
                  <a:cubicBezTo>
                    <a:pt x="1473200" y="1117774"/>
                    <a:pt x="1439084" y="1151890"/>
                    <a:pt x="1397000" y="1151890"/>
                  </a:cubicBezTo>
                  <a:lnTo>
                    <a:pt x="76200" y="1151890"/>
                  </a:lnTo>
                  <a:cubicBezTo>
                    <a:pt x="34116" y="1151890"/>
                    <a:pt x="0" y="1117774"/>
                    <a:pt x="0" y="107569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B60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73200" cy="118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70408" y="4475252"/>
            <a:ext cx="1104900" cy="863918"/>
            <a:chOff x="0" y="0"/>
            <a:chExt cx="1473200" cy="11518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3200" cy="1151890"/>
            </a:xfrm>
            <a:custGeom>
              <a:avLst/>
              <a:gdLst/>
              <a:ahLst/>
              <a:cxnLst/>
              <a:rect r="r" b="b" t="t" l="l"/>
              <a:pathLst>
                <a:path h="1151890" w="1473200">
                  <a:moveTo>
                    <a:pt x="76200" y="0"/>
                  </a:moveTo>
                  <a:lnTo>
                    <a:pt x="1397000" y="0"/>
                  </a:lnTo>
                  <a:cubicBezTo>
                    <a:pt x="1439084" y="0"/>
                    <a:pt x="1473200" y="34116"/>
                    <a:pt x="1473200" y="76200"/>
                  </a:cubicBezTo>
                  <a:lnTo>
                    <a:pt x="1473200" y="1075690"/>
                  </a:lnTo>
                  <a:cubicBezTo>
                    <a:pt x="1473200" y="1117774"/>
                    <a:pt x="1439084" y="1151890"/>
                    <a:pt x="1397000" y="1151890"/>
                  </a:cubicBezTo>
                  <a:lnTo>
                    <a:pt x="76200" y="1151890"/>
                  </a:lnTo>
                  <a:cubicBezTo>
                    <a:pt x="34116" y="1151890"/>
                    <a:pt x="0" y="1117774"/>
                    <a:pt x="0" y="107569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B60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73200" cy="118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74014" y="4475252"/>
            <a:ext cx="1104900" cy="863918"/>
            <a:chOff x="0" y="0"/>
            <a:chExt cx="1473200" cy="1151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73200" cy="1151890"/>
            </a:xfrm>
            <a:custGeom>
              <a:avLst/>
              <a:gdLst/>
              <a:ahLst/>
              <a:cxnLst/>
              <a:rect r="r" b="b" t="t" l="l"/>
              <a:pathLst>
                <a:path h="1151890" w="1473200">
                  <a:moveTo>
                    <a:pt x="76200" y="0"/>
                  </a:moveTo>
                  <a:lnTo>
                    <a:pt x="1397000" y="0"/>
                  </a:lnTo>
                  <a:cubicBezTo>
                    <a:pt x="1439084" y="0"/>
                    <a:pt x="1473200" y="34116"/>
                    <a:pt x="1473200" y="76200"/>
                  </a:cubicBezTo>
                  <a:lnTo>
                    <a:pt x="1473200" y="1075690"/>
                  </a:lnTo>
                  <a:cubicBezTo>
                    <a:pt x="1473200" y="1117774"/>
                    <a:pt x="1439084" y="1151890"/>
                    <a:pt x="1397000" y="1151890"/>
                  </a:cubicBezTo>
                  <a:lnTo>
                    <a:pt x="76200" y="1151890"/>
                  </a:lnTo>
                  <a:cubicBezTo>
                    <a:pt x="34116" y="1151890"/>
                    <a:pt x="0" y="1117774"/>
                    <a:pt x="0" y="107569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9B60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73200" cy="11899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true" flipV="false" rot="0">
            <a:off x="12930818" y="0"/>
            <a:ext cx="5357182" cy="10287000"/>
          </a:xfrm>
          <a:custGeom>
            <a:avLst/>
            <a:gdLst/>
            <a:ahLst/>
            <a:cxnLst/>
            <a:rect r="r" b="b" t="t" l="l"/>
            <a:pathLst>
              <a:path h="10287000" w="5357182">
                <a:moveTo>
                  <a:pt x="5357182" y="0"/>
                </a:moveTo>
                <a:lnTo>
                  <a:pt x="0" y="0"/>
                </a:lnTo>
                <a:lnTo>
                  <a:pt x="0" y="10287000"/>
                </a:lnTo>
                <a:lnTo>
                  <a:pt x="5357182" y="10287000"/>
                </a:lnTo>
                <a:lnTo>
                  <a:pt x="5357182" y="0"/>
                </a:lnTo>
                <a:close/>
              </a:path>
            </a:pathLst>
          </a:custGeom>
          <a:blipFill>
            <a:blip r:embed="rId2"/>
            <a:stretch>
              <a:fillRect l="-63540" t="-8417" r="-82690" b="-84409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755880" y="0"/>
            <a:ext cx="12888925" cy="10759518"/>
          </a:xfrm>
          <a:custGeom>
            <a:avLst/>
            <a:gdLst/>
            <a:ahLst/>
            <a:cxnLst/>
            <a:rect r="r" b="b" t="t" l="l"/>
            <a:pathLst>
              <a:path h="10759518" w="12888925">
                <a:moveTo>
                  <a:pt x="0" y="0"/>
                </a:moveTo>
                <a:lnTo>
                  <a:pt x="12888925" y="0"/>
                </a:lnTo>
                <a:lnTo>
                  <a:pt x="12888925" y="10759518"/>
                </a:lnTo>
                <a:lnTo>
                  <a:pt x="0" y="1075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977" t="0" r="-27977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49808" y="592918"/>
            <a:ext cx="3754355" cy="42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F1A800"/>
                </a:solidFill>
                <a:latin typeface="Poppins Bold"/>
                <a:ea typeface="Poppins Bold"/>
                <a:cs typeface="Poppins Bold"/>
                <a:sym typeface="Poppins Bold"/>
              </a:rPr>
              <a:t>INCIDENTES CRÍTICOS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6384" y="1235625"/>
            <a:ext cx="13435518" cy="239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1"/>
              </a:lnSpc>
            </a:pPr>
            <a:r>
              <a:rPr lang="en-US" sz="8563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TELEMETRÍA Y RESOLUCIÓN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88720" y="7488918"/>
            <a:ext cx="475488" cy="36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>
                <a:solidFill>
                  <a:srgbClr val="10101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39696" y="7246524"/>
            <a:ext cx="3822192" cy="27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0"/>
              </a:lnSpc>
            </a:pPr>
            <a:r>
              <a:rPr lang="en-US" sz="1970" b="true">
                <a:solidFill>
                  <a:srgbClr val="F9B60F"/>
                </a:solidFill>
                <a:latin typeface="Poppins Bold"/>
                <a:ea typeface="Poppins Bold"/>
                <a:cs typeface="Poppins Bold"/>
                <a:sym typeface="Poppins Bold"/>
              </a:rPr>
              <a:t>TASA DE ENCOLAMIENTO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10501" y="7647163"/>
            <a:ext cx="408058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Alertas sobre inanición de recursos en workers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75970" y="7488918"/>
            <a:ext cx="493776" cy="36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>
                <a:solidFill>
                  <a:srgbClr val="10101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80857" y="7221756"/>
            <a:ext cx="3163824" cy="55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4"/>
              </a:lnSpc>
            </a:pPr>
            <a:r>
              <a:rPr lang="en-US" sz="2084" b="true">
                <a:solidFill>
                  <a:srgbClr val="F9B60F"/>
                </a:solidFill>
                <a:latin typeface="Poppins Bold"/>
                <a:ea typeface="Poppins Bold"/>
                <a:cs typeface="Poppins Bold"/>
                <a:sym typeface="Poppins Bold"/>
              </a:rPr>
              <a:t>CENTRALIZACIÓN DE LOGS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57005" y="7675738"/>
            <a:ext cx="4180395" cy="127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402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brindar una trazabilidad distribuida en un mismo componente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10501" y="4940857"/>
            <a:ext cx="363321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Rastreo completo de transacciones fallidas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85114" y="4738309"/>
            <a:ext cx="475488" cy="36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>
                <a:solidFill>
                  <a:srgbClr val="10101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57005" y="4978957"/>
            <a:ext cx="3983979" cy="843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81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Métricas en milisegundos de bloqueos de fila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139696" y="4521787"/>
            <a:ext cx="3822192" cy="28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2015" b="true">
                <a:solidFill>
                  <a:srgbClr val="F9B60F"/>
                </a:solidFill>
                <a:latin typeface="Poppins Bold"/>
                <a:ea typeface="Poppins Bold"/>
                <a:cs typeface="Poppins Bold"/>
                <a:sym typeface="Poppins Bold"/>
              </a:rPr>
              <a:t>TRACE ID MULTIPLATAFORMA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80857" y="4521496"/>
            <a:ext cx="3559893" cy="53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2038" b="true">
                <a:solidFill>
                  <a:srgbClr val="F9B60F"/>
                </a:solidFill>
                <a:latin typeface="Poppins Bold"/>
                <a:ea typeface="Poppins Bold"/>
                <a:cs typeface="Poppins Bold"/>
                <a:sym typeface="Poppins Bold"/>
              </a:rPr>
              <a:t>MONITOREO DE LATENCIA SQL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43584" y="4738309"/>
            <a:ext cx="365760" cy="36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b="true" sz="2638">
                <a:solidFill>
                  <a:srgbClr val="10101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45795" y="9663414"/>
            <a:ext cx="5543623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06</a:t>
            </a:r>
            <a:r>
              <a:rPr lang="en-US" sz="1744" spc="3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7112677" y="0"/>
            <a:ext cx="0" cy="10287000"/>
          </a:xfrm>
          <a:prstGeom prst="line">
            <a:avLst/>
          </a:prstGeom>
          <a:ln cap="flat" w="533400">
            <a:gradFill>
              <a:gsLst>
                <a:gs pos="0">
                  <a:srgbClr val="05080C">
                    <a:alpha val="100000"/>
                  </a:srgbClr>
                </a:gs>
                <a:gs pos="33333">
                  <a:srgbClr val="05080C">
                    <a:alpha val="100000"/>
                  </a:srgbClr>
                </a:gs>
                <a:gs pos="66667">
                  <a:srgbClr val="05080C">
                    <a:alpha val="64000"/>
                  </a:srgbClr>
                </a:gs>
                <a:gs pos="100000">
                  <a:srgbClr val="05080C">
                    <a:alpha val="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3642064" y="20574"/>
            <a:ext cx="0" cy="10287000"/>
          </a:xfrm>
          <a:prstGeom prst="line">
            <a:avLst/>
          </a:prstGeom>
          <a:ln cap="flat" w="533400">
            <a:gradFill>
              <a:gsLst>
                <a:gs pos="0">
                  <a:srgbClr val="05080C">
                    <a:alpha val="100000"/>
                  </a:srgbClr>
                </a:gs>
                <a:gs pos="33333">
                  <a:srgbClr val="05080C">
                    <a:alpha val="100000"/>
                  </a:srgbClr>
                </a:gs>
                <a:gs pos="66667">
                  <a:srgbClr val="05080C">
                    <a:alpha val="64000"/>
                  </a:srgbClr>
                </a:gs>
                <a:gs pos="100000">
                  <a:srgbClr val="05080C">
                    <a:alpha val="0"/>
                  </a:srgbClr>
                </a:gs>
              </a:gsLst>
              <a:lin ang="54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45795" y="9319736"/>
            <a:ext cx="16997362" cy="0"/>
          </a:xfrm>
          <a:prstGeom prst="line">
            <a:avLst/>
          </a:prstGeom>
          <a:ln cap="flat" w="85725">
            <a:solidFill>
              <a:srgbClr val="3A3A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3059727" y="1071562"/>
            <a:ext cx="4582478" cy="4077653"/>
            <a:chOff x="0" y="0"/>
            <a:chExt cx="6109970" cy="54368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9970" cy="5436870"/>
            </a:xfrm>
            <a:custGeom>
              <a:avLst/>
              <a:gdLst/>
              <a:ahLst/>
              <a:cxnLst/>
              <a:rect r="r" b="b" t="t" l="l"/>
              <a:pathLst>
                <a:path h="5436870" w="6109970">
                  <a:moveTo>
                    <a:pt x="0" y="0"/>
                  </a:moveTo>
                  <a:lnTo>
                    <a:pt x="6109970" y="0"/>
                  </a:lnTo>
                  <a:lnTo>
                    <a:pt x="6109970" y="5436870"/>
                  </a:lnTo>
                  <a:lnTo>
                    <a:pt x="0" y="5436870"/>
                  </a:lnTo>
                  <a:close/>
                </a:path>
              </a:pathLst>
            </a:custGeom>
            <a:solidFill>
              <a:srgbClr val="101010"/>
            </a:solidFill>
            <a:ln w="95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09970" cy="547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59727" y="5137785"/>
            <a:ext cx="4582478" cy="4077653"/>
            <a:chOff x="0" y="0"/>
            <a:chExt cx="6109970" cy="5436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09970" cy="5436870"/>
            </a:xfrm>
            <a:custGeom>
              <a:avLst/>
              <a:gdLst/>
              <a:ahLst/>
              <a:cxnLst/>
              <a:rect r="r" b="b" t="t" l="l"/>
              <a:pathLst>
                <a:path h="5436870" w="6109970">
                  <a:moveTo>
                    <a:pt x="0" y="0"/>
                  </a:moveTo>
                  <a:lnTo>
                    <a:pt x="6109970" y="0"/>
                  </a:lnTo>
                  <a:lnTo>
                    <a:pt x="6109970" y="5436870"/>
                  </a:lnTo>
                  <a:lnTo>
                    <a:pt x="0" y="5436870"/>
                  </a:lnTo>
                  <a:close/>
                </a:path>
              </a:pathLst>
            </a:custGeom>
            <a:solidFill>
              <a:srgbClr val="101010"/>
            </a:solidFill>
            <a:ln w="9525" cap="sq">
              <a:solidFill>
                <a:srgbClr val="2E2E2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109970" cy="547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983307" y="20574"/>
            <a:ext cx="5782997" cy="10266426"/>
          </a:xfrm>
          <a:custGeom>
            <a:avLst/>
            <a:gdLst/>
            <a:ahLst/>
            <a:cxnLst/>
            <a:rect r="r" b="b" t="t" l="l"/>
            <a:pathLst>
              <a:path h="10266426" w="5782997">
                <a:moveTo>
                  <a:pt x="0" y="0"/>
                </a:moveTo>
                <a:lnTo>
                  <a:pt x="5782997" y="0"/>
                </a:lnTo>
                <a:lnTo>
                  <a:pt x="5782997" y="10266426"/>
                </a:lnTo>
                <a:lnTo>
                  <a:pt x="0" y="10266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556" t="0" r="-5376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8096" y="1486964"/>
            <a:ext cx="7479792" cy="303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5"/>
              </a:lnSpc>
            </a:pPr>
            <a:r>
              <a:rPr lang="en-US" sz="73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 ESCALABLE Y RESILIENTE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8096" y="4965901"/>
            <a:ext cx="5449824" cy="148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10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8096" y="6252116"/>
            <a:ext cx="5266944" cy="97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F1A800"/>
                </a:solidFill>
                <a:latin typeface="Poppins Bold"/>
                <a:ea typeface="Poppins Bold"/>
                <a:cs typeface="Poppins Bold"/>
                <a:sym typeface="Poppins Bold"/>
              </a:rPr>
              <a:t>INFRAESTRUCTURA COMO CÓDIGO LISTA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8096" y="7357531"/>
            <a:ext cx="6205706" cy="43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406">
                <a:solidFill>
                  <a:srgbClr val="969696"/>
                </a:solidFill>
                <a:latin typeface="Poppins"/>
                <a:ea typeface="Poppins"/>
                <a:cs typeface="Poppins"/>
                <a:sym typeface="Poppins"/>
              </a:rPr>
              <a:t>Para despliegue en producción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01831" y="1756284"/>
            <a:ext cx="1975104" cy="105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7123">
                <a:solidFill>
                  <a:srgbClr val="F1A800"/>
                </a:solidFill>
                <a:latin typeface="Poppins"/>
                <a:ea typeface="Poppins"/>
                <a:cs typeface="Poppins"/>
                <a:sym typeface="Poppins"/>
              </a:rPr>
              <a:t>10 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01831" y="2807518"/>
            <a:ext cx="3072384" cy="74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23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Transacciones por segundo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01831" y="3852989"/>
            <a:ext cx="3328416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69696"/>
                </a:solidFill>
                <a:latin typeface="Poppins"/>
                <a:ea typeface="Poppins"/>
                <a:cs typeface="Poppins"/>
                <a:sym typeface="Poppins"/>
              </a:rPr>
              <a:t>Sin degradar servicio en core legado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01831" y="5837937"/>
            <a:ext cx="2359152" cy="105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sz="7123">
                <a:solidFill>
                  <a:srgbClr val="F1A800"/>
                </a:solidFill>
                <a:latin typeface="Poppins"/>
                <a:ea typeface="Poppins"/>
                <a:cs typeface="Poppins"/>
                <a:sym typeface="Poppins"/>
              </a:rPr>
              <a:t>&lt;2S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01831" y="6858681"/>
            <a:ext cx="3898271" cy="748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23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Tiempo de respuesta a transacción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01831" y="7902113"/>
            <a:ext cx="303580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69696"/>
                </a:solidFill>
                <a:latin typeface="Poppins"/>
                <a:ea typeface="Poppins"/>
                <a:cs typeface="Poppins"/>
                <a:sym typeface="Poppins"/>
              </a:rPr>
              <a:t>Comunicación entre API y core legado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5795" y="9663414"/>
            <a:ext cx="5543623" cy="30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1744" spc="348">
                <a:solidFill>
                  <a:srgbClr val="FFA100"/>
                </a:solidFill>
                <a:latin typeface="Poppins"/>
                <a:ea typeface="Poppins"/>
                <a:cs typeface="Poppins"/>
                <a:sym typeface="Poppins"/>
              </a:rPr>
              <a:t>•   07</a:t>
            </a:r>
            <a:r>
              <a:rPr lang="en-US" sz="1744" spc="3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/07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DAHXwX5MGXM</dc:identifier>
  <dcterms:modified xsi:type="dcterms:W3CDTF">2011-08-01T06:04:30Z</dcterms:modified>
  <cp:revision>1</cp:revision>
  <dc:title>Grey and gold Corporate Business Solutions Presentation</dc:title>
</cp:coreProperties>
</file>